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저희가 제안하는 시스템은 'Woori Advocate' 입니다. 슬로건 그대로 — 우리은행은 고객 편을 드는 AI를 둡니다. 세계 최초로, 자기 행원에게 반대하는 AI 입니다.</a:t>
            </a:r>
          </a:p>
          <a:p/>
          <a:p>
            <a:r>
              <a:t>[30초] 슬로건을 천천히, 또박또박. 청중이 슬로건을 머릿속에 새기게 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 한국 4대 은행, 그리고 글로벌 JP Morgan, Bank of America 까지 — 모든 은행 AI 는 공통 목표가 하나입니다. 상품을 더 잘 팔기 위해. 신한의 완전판매 AI 스크립트, KB의 케이봇쌤, 하나의 AI 비서 — 전부 셀링 보조입니다. 그것이 정말 고객을 위한 AI일까요?</a:t>
            </a:r>
          </a:p>
          <a:p/>
          <a:p>
            <a:r>
              <a:t>[45초] 'JP Morgan·BoA' 도 동일하다는 점에서 글로벌 차원의 빈틈.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DLF 사태는 우리은행이 197억원, 은행권 역대 최대 과태료를 부담한 사건이었습니다. 사모펀드 6개월 정지, 행장 문책경고. 본질은 단순합니다 — 고객 프로필에 안 맞는 고위험 상품을 아무 경고 없이 판 것. 만약 2019년에 Advocate 가 있었다면, 부적합 고객에게 가입 직전 5가지 위험을 알려줬을 것이고, 이 사태 자체가 없었을 겁니다.</a:t>
            </a:r>
          </a:p>
          <a:p/>
          <a:p>
            <a:r>
              <a:t>[45초] 우리은행 본인의 약점을 정면으로 언급 — 신뢰성·진정성 확보.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저희의 해결책은 이렇습니다.</a:t>
            </a:r>
          </a:p>
          <a:p/>
          <a:p>
            <a:r>
              <a:t>[★★ 5초 침묵 — 정확히 5초. 3초 짧고 7초 어색. 화면을 그대로 보여줌 ★★]</a:t>
            </a:r>
          </a:p>
          <a:p/>
          <a:p>
            <a:r>
              <a:t>보시는 화면이 가입 직전 영업점입니다. 행원의 모니터는 상품 강점을 말하고, 고객 앞 태블릿은 같은 순간 이 상품이 맞지 않는 이유를 말합니다. 좌측은 Seller, 우측은 Advocate — 같은 LLM을 두 페르소나로 격리시켜 이중 관점을 동시에 출력합니다.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내부 구조입니다. Multi-Agent Debate 아키텍처 위에 이질 LLM ensemble — Seller 는 Anthropic Claude, Advocate 는 OpenAI GPT, Regulator 는 Llama + Z3 형식 검증을 결합합니다. 서로 다른 학습 데이터, 다른 정렬 철학을 가진 모델들이 진짜 대립합니다. 8개 에이전트는 Google A2A 표준으로 통신해서 우리은행의 기존 175개 AI 에이전트와 즉시 상호운용 가능합니다.</a:t>
            </a:r>
          </a:p>
          <a:p/>
          <a:p>
            <a:r>
              <a:t>[60초] '이질 LLM' 과 'A2A' — 두 키워드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왜 단순 LangGraph 가 아닌 MAD 인가. LangGraph 는 좋은 상태 그래프 프레임워크지만 — 단일 LLM 이 노드를 옮겨 다닐 뿐, 에이전트 간 '진짜 대립' 이 없습니다. 우리 MAD 는 다릅니다. 라운드 1 은 독립 호출, 라운드 2 부터 상대의 직전 출력이 내 system prompt context 에 embedding 됩니다. 그래서 Seller(Claude) 와 Advocate(GPT) 가 서로의 주장을 보고 반응합니다. MIT MAD 논문의 +80.9% 정확도 향상이 이 cross-context embedding 에서 나옵니다.</a:t>
            </a:r>
          </a:p>
          <a:p/>
          <a:p>
            <a:r>
              <a:t>[45초] 'LangGraph 도 좋지만 우리는 한 단계 더 갔다' 톤으로.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아키텍처는 추측이 아니라 학술 근거를 갖습니다. MIT MAD 논문은 여러 LLM 이 토론하면 단일 LLM 대비 사실 정확도가 +80.9% 향상되고 환각이 감소함을 증명했습니다. Anthropic Constitutional AI 는 헌법 원칙 자가 검증의 표준을 만들었고, 저희는 그 헌법에 금소법 6대 의무를 직접 삽입했습니다. 그리고 한국어 금융 도메인에 Z3 SMT 형식 검증을 적용한 것은 학술적으로 첫 사례입니다.</a:t>
            </a:r>
          </a:p>
          <a:p/>
          <a:p>
            <a:r>
              <a:t>[45초] '+80.9%' 와 '학술 첫 적용' — 두 숫자.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규제 측면입니다. 2026년은 한국 인공지능기본법, EU AI Act 가 본격 작동하는 해입니다. Woori Advocate 는 OCP audit log 와 Z3 형식 증명으로 3개 법규를 한 번에 자동 충족 시킵니다. EU AI Act 위반 시 매출의 7% 과징금을 사전 차단합니다. 우리은행이 컴플라이언스 표준 reference 은행이 되는 길입니다.</a:t>
            </a:r>
          </a:p>
          <a:p/>
          <a:p>
            <a:r>
              <a:t>[45초]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실시간 시연입니다.</a:t>
            </a:r>
          </a:p>
          <a:p>
            <a:r>
              <a:t>[클릭] '박영희 ELS 가입 시도 → Advocate 발동' 버튼 클릭.</a:t>
            </a:r>
          </a:p>
          <a:p>
            <a:r>
              <a:t>박영희 75세 고객이 홍콩H지수 연계 ELS 에 가입을 시도합니다. 화면이 분할됩니다.</a:t>
            </a:r>
          </a:p>
          <a:p/>
          <a:p>
            <a:r>
              <a:t>좌측 행원 PC — Seller 가 셀링 포인트 4개를 보여주고, Z3 SMT 검증이 통과됩니다 — 부당권유 패턴 0개, 수학적 증명.</a:t>
            </a:r>
          </a:p>
          <a:p/>
          <a:p>
            <a:r>
              <a:t>우측 고객 태블릿 — Advocate 가 5가지 위험을 박영희 본인 데이터와 매핑해서 보여줍니다. 각 항목 끝에 약관 청크 ID — 환각 차단. 박영희님의 의료비 1,200만 지출, 5년간 고위험 상품 거래 0건이 위험 1·2번에 반영됩니다.</a:t>
            </a:r>
          </a:p>
          <a:p/>
          <a:p>
            <a:r>
              <a:t>고객은 5개 체크박스를 모두 누른 뒤에만 가입 진행이 가능합니다. 체크 안 누르면 행원 호출.</a:t>
            </a:r>
          </a:p>
          <a:p/>
          <a:p>
            <a:r>
              <a:t>[90초]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시니어 시나리오입니다. 65세 이상 고객은 자동으로 시니어 모드 — 큰 글씨, TTS 음성 안내, 한 번에 한 위험 항목씩. 손주 명의 계좌로 1,500만원 송금을 시도하면 FDS 가 4개 시그널을 검출합니다 — 평소 50배 거액, 신규 계좌 3일, 통화 이력 0회, 의심 발신 통화. Family Consent 절차가 발동되어 진짜 손주에게 직접 전화 확인을 권유합니다. 응모분야 1번 취약계층 보호와 4번 보이스피싱을 동시에 처리합니다.</a:t>
            </a:r>
          </a:p>
          <a:p/>
          <a:p>
            <a:r>
              <a:t>[45초]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더 강력한 시나리오를 보여드립니다. 박영희 75세, 자칭 손주에게 사기 전화를 받은 뒤 영업점에서 ELS 가입을 시도합니다.</a:t>
            </a:r>
          </a:p>
          <a:p/>
          <a:p>
            <a:r>
              <a:t>동시에 4개 응모분야가 모두 발동합니다. (1) 시니어 모드 자동 활성. (2) Advocate 가 적합성 위반 5가지 위험 표시 + Z3 검증. (3) 가입 후 손주 계좌 송금 단계에서 FDS 가 4개 시그널 검출. (4) 박영희 음성에서 '압박감' 감정이 감지되어 행원 PC 에 사전 알람. 단 하나의 시나리오로, 응모 4분야 전체를 커버합니다.</a:t>
            </a:r>
          </a:p>
          <a:p/>
          <a:p>
            <a:r>
              <a:t>[90초]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실현가능성. 우리은행이 이미 갖고 있는 5개 자산 — 우리GPT, 운영GPT, 175개 AI 에이전트, GPU 클러스터, 영업점 STT — 위에 얹습니다. 외부 인프라 신규 투자 거의 0. 그리고 비용은 우리은행 단독이 아니라 4-way 분담 — 인공지능기본법 시범사업으로 금융위 R&amp;D 30%, 표준화 과제로 과기정통부 15%, 학술·표준 컨소시엄 15%. P0~P3 누적 270억 중 우리은행 자체는 108억.</a:t>
            </a:r>
          </a:p>
          <a:p/>
          <a:p>
            <a:r>
              <a:t>[45초]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ROI 입니다. 3축 수익 모델. 첫째 회피 — DLF 197억급 사태를 1번만 회피해도 PoC 6개월 비용을 회수합니다. 둘째 감경 — 금소법 과징금 최대 75% 감경 조건이 실태평가 우수입니다. Advocate 도입이 그 근거가 됩니다. 셋째 라이센스 — Phase 5 글로벌 진출 시 싱가포르 MAS, 영국 FCA Consumer Duty 매핑으로 5개국 53개 은행 사용. 연 잠재 1,000억 ~ 3,000억.</a:t>
            </a:r>
          </a:p>
          <a:p/>
          <a:p>
            <a:r>
              <a:t>[45초]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이건 단순한 신기능이 아니라 패러다임의 역전입니다. 사후 → 사전, 단일 → 이중, 은행 → 고객. 신한·KB·하나는 어쩌면 따라할 수 있을 것입니다. 그러나 '고객 편 AI' 라는 포지셔닝은 한 회사만 차지합니다. 그 한 회사가 우리은행입니다.</a:t>
            </a:r>
          </a:p>
          <a:p/>
          <a:p>
            <a:r>
              <a:t>[45초]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4~5 비전입니다. OCP — Open Consumer Protection Standard. 우리은행이 한국 금융권 공통 소비자보호 AI 표준을 제정하고 Linux Foundation 에 위탁합니다. KB·신한이 자체 Advocate 를 구현해도 OCP 호환 인증을 우리은행에서 발급합니다. Phase 5 — 싱가포르 MAS FEAT, 영국 FCA Consumer Duty, EU AI Act 모두 OCP audit 으로 매핑됩니다. 우리은행이 한국을 글로벌 금융 소비자보호 AI 의 reference 국가로 만듭니다.</a:t>
            </a:r>
          </a:p>
          <a:p/>
          <a:p>
            <a:r>
              <a:t>[45초]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마지막입니다.</a:t>
            </a:r>
          </a:p>
          <a:p/>
          <a:p>
            <a:r>
              <a:t>[★★ 3초 대기 후 천천히 한 줄씩 읽기 ★★]</a:t>
            </a:r>
          </a:p>
          <a:p/>
          <a:p>
            <a:r>
              <a:t>DLF 197억의 회사가</a:t>
            </a:r>
          </a:p>
          <a:p>
            <a:r>
              <a:t>한국 금융권 소비자보호 표준의</a:t>
            </a:r>
          </a:p>
          <a:p>
            <a:r>
              <a:t>출처가 됩니다.</a:t>
            </a:r>
          </a:p>
          <a:p/>
          <a:p>
            <a:r>
              <a:t>고객의 편에서 질문을 던지는 우리은행의 Woori Advocate 였습니다. 들어주셔서 감사합니다.</a:t>
            </a:r>
          </a:p>
          <a:p/>
          <a:p>
            <a:r>
              <a:t>[45초] 마지막 한 호흡 쉰 뒤 인사.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003C69"/>
                </a:solidFill>
                <a:latin typeface="맑은 고딕"/>
              </a:rP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502920"/>
            <a:ext cx="5486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맑은 고딕"/>
              </a:rPr>
              <a:t>우리은행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맑은 고딕"/>
              </a:rPr>
              <a:t>Woori Advocate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맑은 고딕"/>
              </a:rPr>
              <a:t>고객 편 AI · 사전 개입 · 이중 관점 동시 출력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11064240" cy="1828800"/>
          </a:xfrm>
          <a:prstGeom prst="rect">
            <a:avLst/>
          </a:prstGeom>
          <a:solidFill>
            <a:srgbClr val="00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"우리은행은 고객 편을 드는 AI를 둡니다"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CADCFC"/>
                </a:solidFill>
                <a:latin typeface="맑은 고딕"/>
              </a:rPr>
              <a:t>세계 최초, 자기 행원에게 반대하는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맑은 고딕"/>
              </a:rPr>
              <a:t>우리은행 × SSAFY AI-금융소비자보호 아이디어 경진대회 · 2026.06.05 본선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문제 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003C69"/>
                </a:solidFill>
                <a:latin typeface="맑은 고딕"/>
              </a:rPr>
              <a:t>모든 은행 AI 는 "은행 편" 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3C69"/>
                </a:solidFill>
                <a:latin typeface="맑은 고딕"/>
              </a:rPr>
              <a:t>신한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완전판매 AI
스크립트·해피콜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0116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14884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3C69"/>
                </a:solidFill>
                <a:latin typeface="맑은 고딕"/>
              </a:rPr>
              <a:t>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케이봇쌤
Liiv AI 데스크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3C69"/>
                </a:solidFill>
                <a:latin typeface="맑은 고딕"/>
              </a:rPr>
              <a:t>하나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하이(HAI)
프로젝트 퍼스트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3C69"/>
                </a:solidFill>
                <a:latin typeface="맑은 고딕"/>
              </a:rPr>
              <a:t>우리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1828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AI-스미싱
전기통신금융사기 모니터링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352044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365760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3C69"/>
                </a:solidFill>
                <a:latin typeface="맑은 고딕"/>
              </a:rPr>
              <a:t>JP Morgan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160520"/>
            <a:ext cx="1828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IndexGPT
셀링 보조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52044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65760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3C69"/>
                </a:solidFill>
                <a:latin typeface="맑은 고딕"/>
              </a:rPr>
              <a:t>Bank of
America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60520"/>
            <a:ext cx="1828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Erica
Merrill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011680"/>
            <a:ext cx="5212080" cy="402336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286000"/>
            <a:ext cx="4846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맑은 고딕"/>
              </a:rPr>
              <a:t>공통 라벨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43200"/>
            <a:ext cx="4846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"더 잘 팔기 위한 AI"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65760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맑은 고딕"/>
              </a:rPr>
              <a:t>——————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023360"/>
            <a:ext cx="484632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그게 진정
고객을 위한 것이었을까요?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8232B"/>
                </a:solidFill>
                <a:latin typeface="맑은 고딕"/>
              </a:rPr>
              <a:t>우리은행의 진짜 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003C69"/>
                </a:solidFill>
                <a:latin typeface="맑은 고딕"/>
              </a:rPr>
              <a:t>DLF 사태 — 은행권 역대 최대 과태료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40080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0" b="1">
                <a:solidFill>
                  <a:srgbClr val="C8232B"/>
                </a:solidFill>
                <a:latin typeface="맑은 고딕"/>
              </a:rPr>
              <a:t>197.1억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4952"/>
                </a:solidFill>
                <a:latin typeface="맑은 고딕"/>
              </a:rPr>
              <a:t>원 · DLF 불완전판매 과태료 (2019)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04952"/>
                </a:solidFill>
                <a:latin typeface="맑은 고딕"/>
              </a:rPr>
              <a:t>은행권 역대 최대 규모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011680"/>
            <a:ext cx="4754880" cy="24688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194560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▸ 사모펀드 신규판매 6개월 정지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697480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▸ 손태승 행장 문책경고 (중징계)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200400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▸ 분쟁조정 평균 배상비율 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703320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▸ 본질: 고객 프로필에 안 맞는 고위험 상품을 경고 없이 판매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만약 2019년에 Advocate 가 있었다면?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맑은 고딕"/>
              </a:rPr>
              <a:t>부적합 고객에게 가입 직전 5위험 표시 → 사태 자체가 없었음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해결책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3C69"/>
                </a:solidFill>
                <a:latin typeface="맑은 고딕"/>
              </a:rPr>
              <a:t>가입 직전, 같은 화면을 둘로 가른다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577840" cy="41148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212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행원 PC — Seller 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맑은 고딕"/>
              </a:rPr>
              <a:t>Claude · 셀링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▸ 시중 예적금 대비 약 3배,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18688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   연 최대 6.0% 세전 쿠폰 예상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02736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▸ 적극투자형 이상 적합 상품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86784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▸ 6개월마다 조기상환 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2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[Z3 SMT ✓] 부당권유 패턴 0개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고객 태블릿 — Advocate 관점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맑은 고딕"/>
              </a:rPr>
              <a:t>OpenAI GPT · 5위험 + 출처 표기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1. 3년간 자금 묶임  [출처: T-002]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18688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   의료비 1,200만 지출 충돌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602736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2. 5년간 고위험 거래 0건 [T-004]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86784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3. 원금 최대 100% 손실 [T-001]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370832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4. 유사 상품 손실 7.2% [T-006]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80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5. 75세 + 변동성 부담 [T-005]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박영희 75세 · 의료비 1,200만 지출 · 고위험 상품 거래 5년 0건 · 자칭 손주 압박 전화 24시간 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3C69"/>
                </a:solidFill>
                <a:latin typeface="맑은 고딕"/>
              </a:rPr>
              <a:t>MAD + 이질 LLM ensemble + A2A 표준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828800"/>
            <a:ext cx="3657600" cy="822960"/>
          </a:xfrm>
          <a:prstGeom prst="roundRect">
            <a:avLst>
              <a:gd name="adj" fmla="val 20000"/>
            </a:avLst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1874519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Advocate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2402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.well-known/agent.json · A2A 표준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6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735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067AC"/>
                </a:solidFill>
                <a:latin typeface="맑은 고딕"/>
              </a:rPr>
              <a:t>Seller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307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Claude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1089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2735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C8232B"/>
                </a:solidFill>
                <a:latin typeface="맑은 고딕"/>
              </a:rPr>
              <a:t>Advocate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307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1089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32735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03C69"/>
                </a:solidFill>
                <a:latin typeface="맑은 고딕"/>
              </a:rPr>
              <a:t>Regulator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7307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Llama + Z3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1089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049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2735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404952"/>
                </a:solidFill>
                <a:latin typeface="맑은 고딕"/>
              </a:rPr>
              <a:t>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7307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거래·민원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049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451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404952"/>
                </a:solidFill>
                <a:latin typeface="맑은 고딕"/>
              </a:rPr>
              <a:t>Peer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023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통계 mock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44805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6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6451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067AC"/>
                </a:solidFill>
                <a:latin typeface="맑은 고딕"/>
              </a:rPr>
              <a:t>Senior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23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65+ 자동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4805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46451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C8232B"/>
                </a:solidFill>
                <a:latin typeface="맑은 고딕"/>
              </a:rPr>
              <a:t>FDS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1023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사기 패턴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44805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6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46451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067AC"/>
                </a:solidFill>
                <a:latin typeface="맑은 고딕"/>
              </a:rPr>
              <a:t>Family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102352"/>
            <a:ext cx="2560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동의 절차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404952"/>
                </a:solidFill>
                <a:latin typeface="맑은 고딕"/>
              </a:rPr>
              <a:t>이질 LLM 5종 ensemble (Claude · GPT · Llama · Qwen · Solar) · A2A 메시지 → OCP audit 5년 보관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8232B"/>
                </a:solidFill>
                <a:latin typeface="맑은 고딕"/>
              </a:rPr>
              <a:t>왜 단순 LangGraph 가 아닌가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3C69"/>
                </a:solidFill>
                <a:latin typeface="맑은 고딕"/>
              </a:rPr>
              <a:t>MAD (Multi-Agent Debate) — cross-context embedding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905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4952"/>
                </a:solidFill>
                <a:latin typeface="맑은 고딕"/>
              </a:rPr>
              <a:t>LangGraph (상태 그래프)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4952"/>
                </a:solidFill>
                <a:latin typeface="맑은 고딕"/>
              </a:rPr>
              <a:t>단일 LLM 이 노드 별로 도구·라우팅 수행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834640"/>
            <a:ext cx="1371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04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535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404952"/>
                </a:solidFill>
                <a:latin typeface="맑은 고딕"/>
              </a:rPr>
              <a:t>Node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834640"/>
            <a:ext cx="1371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04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9535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404952"/>
                </a:solidFill>
                <a:latin typeface="맑은 고딕"/>
              </a:rPr>
              <a:t>Node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834640"/>
            <a:ext cx="13716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04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29535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404952"/>
                </a:solidFill>
                <a:latin typeface="맑은 고딕"/>
              </a:rPr>
              <a:t>Node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× 단일 LLM — 다양성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× 노드 간 메시지는 state 전달만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× '진짜 대립' 메커니즘 부재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5488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× 환각이 그래프 전체에 전파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× 학술 근거 없음 (단순 프레임워크)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C8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C8232B"/>
                </a:solidFill>
                <a:latin typeface="맑은 고딕"/>
              </a:rPr>
              <a:t>우리 MAD (이질 LLM 토론)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4952"/>
                </a:solidFill>
                <a:latin typeface="맑은 고딕"/>
              </a:rPr>
              <a:t>라운드 N → 상대 출력이 내 system prompt 에 embedding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834640"/>
            <a:ext cx="2103120" cy="640080"/>
          </a:xfrm>
          <a:prstGeom prst="roundRect">
            <a:avLst>
              <a:gd name="adj" fmla="val 15000"/>
            </a:avLst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Seller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Claude (Anthropic)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2834640"/>
            <a:ext cx="2103120" cy="640080"/>
          </a:xfrm>
          <a:prstGeom prst="roundRect">
            <a:avLst>
              <a:gd name="adj" fmla="val 15000"/>
            </a:avLst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907792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Advocate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24612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GPT (OpenAI)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549640" y="3017520"/>
            <a:ext cx="777240" cy="228600"/>
          </a:xfrm>
          <a:prstGeom prst="rightArrow">
            <a:avLst/>
          </a:prstGeom>
          <a:solidFill>
            <a:srgbClr val="8C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ft Arrow 27"/>
          <p:cNvSpPr/>
          <p:nvPr/>
        </p:nvSpPr>
        <p:spPr>
          <a:xfrm>
            <a:off x="8549640" y="3337560"/>
            <a:ext cx="777240" cy="228600"/>
          </a:xfrm>
          <a:prstGeom prst="leftArrow">
            <a:avLst/>
          </a:prstGeom>
          <a:solidFill>
            <a:srgbClr val="8C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✓ 이질 LLM (Anthropic + OpenAI) — 학습 데이터·정렬 다름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8912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✓ 상대 출력을 context 에 embedding → 진짜 대립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8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✓ 라운드 반복 → Moderator 합의/불일치 추출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✓ MIT MAD ICML 2024 +80.9% 정확도 literal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8640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✓ 환각: cross-LLM 검증으로 &lt; 0.5% 목표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Q5 ("같은 LLM 진짜 대립?") → 답: 다른 LLM, 다른 출처 → 단순 LangGraph 가 줄 수 없는 학술적 근거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학술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3C69"/>
                </a:solidFill>
                <a:latin typeface="맑은 고딕"/>
              </a:rPr>
              <a:t>추측이 아닌 논문 기반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6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697480" cy="640080"/>
          </a:xfrm>
          <a:prstGeom prst="rect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697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MIT 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2697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ICML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24231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맑은 고딕"/>
              </a:rPr>
              <a:t>여러 LLM 토론 시
사실 정확도 +80.9%
환각 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0312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2103120"/>
            <a:ext cx="2697480" cy="64008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48840"/>
            <a:ext cx="2697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Constitutional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80360"/>
            <a:ext cx="2697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Anthropic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74720"/>
            <a:ext cx="24231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맑은 고딕"/>
              </a:rPr>
              <a:t>헌법 자가 검증 →
금소법 6대 의무를
Advocate 헌법에 삽입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0312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6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03120"/>
            <a:ext cx="2697480" cy="640080"/>
          </a:xfrm>
          <a:prstGeom prst="rect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148840"/>
            <a:ext cx="2697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System 1 /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80360"/>
            <a:ext cx="2697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Kahneman 2011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474720"/>
            <a:ext cx="24231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맑은 고딕"/>
              </a:rPr>
              <a:t>Seller = 직관(S1)
Advocate = 분석(S2)
오류율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10312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C8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2103120"/>
            <a:ext cx="2697480" cy="640080"/>
          </a:xfrm>
          <a:prstGeom prst="rect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148840"/>
            <a:ext cx="2697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Z3 한국어 금융 SMT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880360"/>
            <a:ext cx="2697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AAAI/KDD 2026 publishable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474720"/>
            <a:ext cx="24231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B1F24"/>
                </a:solidFill>
                <a:latin typeface="맑은 고딕"/>
              </a:rPr>
              <a:t>한국어 + 금융 + LLM
출력 형식 검증
학술 첫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3C69"/>
                </a:solidFill>
                <a:latin typeface="맑은 고딕"/>
              </a:rPr>
              <a:t>"+80.9%" 는 비유가 아니라 우리 ensemble 구성에 그대로 literal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규제 정합성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3C69"/>
                </a:solidFill>
                <a:latin typeface="맑은 고딕"/>
              </a:rPr>
              <a:t>2026년 — 한·EU 동시 시행기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657600" cy="73152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한국 금소법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2021.03 시행
2026.01 감독규정 개정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32918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4952"/>
                </a:solidFill>
                <a:latin typeface="맑은 고딕"/>
              </a:rPr>
              <a:t>법 요구: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32918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맑은 고딕"/>
              </a:rPr>
              <a:t>적합성·적정성
설명·불공정
부당권유·광고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8232B"/>
                </a:solidFill>
                <a:latin typeface="맑은 고딕"/>
              </a:rPr>
              <a:t>Advocate 충족: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맑은 고딕"/>
              </a:rPr>
              <a:t>Z3 §21·§22
Mod 적합성 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011680"/>
            <a:ext cx="3657600" cy="73152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0312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인공지능기본법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2026.01 시행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74720"/>
            <a:ext cx="32918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4952"/>
                </a:solidFill>
                <a:latin typeface="맑은 고딕"/>
              </a:rPr>
              <a:t>법 요구: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40"/>
            <a:ext cx="32918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맑은 고딕"/>
              </a:rPr>
              <a:t>고위험 AI 윤리위
사후 검증 의무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80060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8232B"/>
                </a:solidFill>
                <a:latin typeface="맑은 고딕"/>
              </a:rPr>
              <a:t>Advocate 충족: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12064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맑은 고딕"/>
              </a:rPr>
              <a:t>OCP audit 5년
Agent Card 공개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01168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011680"/>
            <a:ext cx="3657600" cy="73152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103120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EU AI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8803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2026.08 본격 집행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74720"/>
            <a:ext cx="32918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4952"/>
                </a:solidFill>
                <a:latin typeface="맑은 고딕"/>
              </a:rPr>
              <a:t>법 요구: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49040"/>
            <a:ext cx="32918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맑은 고딕"/>
              </a:rPr>
              <a:t>투명성 / 인간감독
5년 기록 / 매출 7% 과징금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0060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8232B"/>
                </a:solidFill>
                <a:latin typeface="맑은 고딕"/>
              </a:rPr>
              <a:t>Advocate 충족: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3291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맑은 고딕"/>
              </a:rPr>
              <a:t>OCP envelope_digest
자동 충족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3C69"/>
                </a:solidFill>
                <a:latin typeface="맑은 고딕"/>
              </a:rPr>
              <a:t>Advocate 도입 = 3법 자동 충족 + EU 매출 7% 과징금 사전 차단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7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8232B"/>
                </a:solidFill>
                <a:latin typeface="맑은 고딕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3C69"/>
                </a:solidFill>
                <a:latin typeface="맑은 고딕"/>
              </a:rPr>
              <a:t>시나리오 1 — 박영희 75세 ELS 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시연 흐름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행원 PC 에 Seller 자동 표시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고객 태블릿 시니어 모드 활성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947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Advocate 5위험 + 출처 표기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389120"/>
            <a:ext cx="502920" cy="50292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Z3 SMT 검증 배지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074920"/>
            <a:ext cx="502920" cy="50292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502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맑은 고딕"/>
              </a:rPr>
              <a:t>5개 체크박스 + 자필 서명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5577840" cy="4114800"/>
          </a:xfrm>
          <a:prstGeom prst="rect">
            <a:avLst/>
          </a:prstGeom>
          <a:solidFill>
            <a:srgbClr val="F5F7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4952"/>
                </a:solidFill>
                <a:latin typeface="맑은 고딕"/>
              </a:rPr>
              <a:t>브라우저: http://localhost:8000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468880"/>
            <a:ext cx="2606040" cy="32004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5603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Seller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97180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▸ 연 최대 6% 쿠폰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42900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▸ 적극투자형 적합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8620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▸ 6개월 평가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4340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✓ Z3 통과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468880"/>
            <a:ext cx="2606040" cy="3200400"/>
          </a:xfrm>
          <a:prstGeom prst="rect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25603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Advocate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97180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1. 자금 묶임 [T-002]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38328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2. 거래 0건 [T-004]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79476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3. 원금 100% [T-001]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20624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4. 손실 7.2% [T-006]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6177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5. 변동성 [T-005]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목표 응답 시간 &lt; 2.5초 p95 · 캐시 hit 시 &lt; 500ms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8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시나리오 2 — 시니어 + 포용금융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3C69"/>
                </a:solidFill>
                <a:latin typeface="맑은 고딕"/>
              </a:rPr>
              <a:t>이순자 75세, 손주 명의 1,500만 송금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시니어 모드 (자동)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383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이순자 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33832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송금 전 한 번만
확인해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338328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✓ 큰 글씨
✓ TTS 음성 안내
✓ 한 번에 한 카드씩
✓ 가족 동의 푸시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6858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C8232B"/>
                </a:solidFill>
                <a:latin typeface="맑은 고딕"/>
              </a:rPr>
              <a:t>FDS 4개 시그널 검출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33172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C8232B"/>
                </a:solidFill>
                <a:latin typeface="맑은 고딕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37744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맑은 고딕"/>
              </a:rPr>
              <a:t>비정상 거액: 평소 평균 이체액의 50배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C8232B"/>
                </a:solidFill>
                <a:latin typeface="맑은 고딕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92608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맑은 고딕"/>
              </a:rPr>
              <a:t>수취 계좌 최근 개설 (3일 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C8232B"/>
                </a:solidFill>
                <a:latin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7472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맑은 고딕"/>
              </a:rPr>
              <a:t>자칭 '손주' 와 최근 6개월 통화 0회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7764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C8232B"/>
                </a:solidFill>
                <a:latin typeface="맑은 고딕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023360"/>
            <a:ext cx="6400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맑은 고딕"/>
              </a:rPr>
              <a:t>24시간 내 의심 발신 통화 24분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663440"/>
            <a:ext cx="6858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03C69"/>
                </a:solidFill>
                <a:latin typeface="맑은 고딕"/>
              </a:rPr>
              <a:t>Family Consent 절차 발동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1. 등록 손주 직접 통화 권유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44068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2. 자녀 안심앱 푸시 알림 동시 발송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806440"/>
            <a:ext cx="6858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3. 30분 미응답 시 안심센터 자동 연결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3C69"/>
                </a:solidFill>
                <a:latin typeface="맑은 고딕"/>
              </a:rPr>
              <a:t>응모분야 1 (취약계층 보호) + 4 (보이스피싱 예방) 동시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9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8232B"/>
                </a:solidFill>
                <a:latin typeface="맑은 고딕"/>
              </a:rPr>
              <a:t>통합 시나리오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003C69"/>
                </a:solidFill>
                <a:latin typeface="맑은 고딕"/>
              </a:rPr>
              <a:t>박영희 75세 + 손주 사칭 ELS — 4분야 동시 발동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6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28600" cy="2194560"/>
          </a:xfrm>
          <a:prstGeom prst="rect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67AC"/>
                </a:solidFill>
                <a:latin typeface="맑은 고딕"/>
              </a:rPr>
              <a:t>응모분야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03C69"/>
                </a:solidFill>
                <a:latin typeface="맑은 고딕"/>
              </a:rPr>
              <a:t>취약계층 보호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4952"/>
                </a:solidFill>
                <a:latin typeface="맑은 고딕"/>
              </a:rPr>
              <a:t>Senior + Family 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5029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75세 + senior_mode 플래그
자동 시니어 UI · TTS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228600" cy="219456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3C69"/>
                </a:solidFill>
                <a:latin typeface="맑은 고딕"/>
              </a:rPr>
              <a:t>응모분야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03C69"/>
                </a:solidFill>
                <a:latin typeface="맑은 고딕"/>
              </a:rPr>
              <a:t>불완전판매 예방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4952"/>
                </a:solidFill>
                <a:latin typeface="맑은 고딕"/>
              </a:rPr>
              <a:t>Advocate + Z3 + Moderator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적합성 위반 5위험
Z3 형식 증명 · 청크 출처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228600" cy="2194560"/>
          </a:xfrm>
          <a:prstGeom prst="rect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8232B"/>
                </a:solidFill>
                <a:latin typeface="맑은 고딕"/>
              </a:rPr>
              <a:t>응모분야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03C69"/>
                </a:solidFill>
                <a:latin typeface="맑은 고딕"/>
              </a:rPr>
              <a:t>민원 사전 예방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4952"/>
                </a:solidFill>
                <a:latin typeface="맑은 고딕"/>
              </a:rPr>
              <a:t>감정 분석 + 행원 알람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5029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'압박감' 패턴 검출
행원 PC 우상단 알람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2976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8C1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297680"/>
            <a:ext cx="228600" cy="2194560"/>
          </a:xfrm>
          <a:prstGeom prst="rect">
            <a:avLst/>
          </a:prstGeom>
          <a:solidFill>
            <a:srgbClr val="8C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8C1018"/>
                </a:solidFill>
                <a:latin typeface="맑은 고딕"/>
              </a:rPr>
              <a:t>응모분야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5488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03C69"/>
                </a:solidFill>
                <a:latin typeface="맑은 고딕"/>
              </a:rPr>
              <a:t>보이스피싱 예방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21208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4952"/>
                </a:solidFill>
                <a:latin typeface="맑은 고딕"/>
              </a:rPr>
              <a:t>FDS + Family Consent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577840"/>
            <a:ext cx="5029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맑은 고딕"/>
              </a:rPr>
              <a:t>신규 계좌 + 통화 0회
+ 평소 50배 거액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3C69"/>
                </a:solidFill>
                <a:latin typeface="맑은 고딕"/>
              </a:rPr>
              <a:t>1개 시나리오 = 4개 응모분야 모두 발동 → 효과성 만점 논리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10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실현가능성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3C69"/>
                </a:solidFill>
                <a:latin typeface="맑은 고딕"/>
              </a:rPr>
              <a:t>우리은행 보유 자산 + 4-way 비용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3C69"/>
                </a:solidFill>
                <a:latin typeface="맑은 고딕"/>
              </a:rPr>
              <a:t>우리은행 보유 자산 (개발 비용 거의 0)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50592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3C69"/>
                </a:solidFill>
                <a:latin typeface="맑은 고딕"/>
              </a:rPr>
              <a:t>우리GPT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04952"/>
                </a:solidFill>
                <a:latin typeface="맑은 고딕"/>
              </a:rPr>
              <a:t>2024.12 · 1,000만건 내부 데이터  →  Seller·Advocate 베이스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136392"/>
            <a:ext cx="320040" cy="32004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63824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44952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3C69"/>
                </a:solidFill>
                <a:latin typeface="맑은 고딕"/>
              </a:rPr>
              <a:t>운영GPT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0712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04952"/>
                </a:solidFill>
                <a:latin typeface="맑은 고딕"/>
              </a:rPr>
              <a:t>2025.05 · 리스크 특화  →  Regulator·Moderator 재활용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9624"/>
            <a:ext cx="320040" cy="32004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77056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58184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3C69"/>
                </a:solidFill>
                <a:latin typeface="맑은 고딕"/>
              </a:rPr>
              <a:t>175 AI 에이전트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23944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04952"/>
                </a:solidFill>
                <a:latin typeface="맑은 고딕"/>
              </a:rPr>
              <a:t>2026.03 배치  →  A2A 표준으로 즉시 통합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62856"/>
            <a:ext cx="320040" cy="32004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9028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71416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3C69"/>
                </a:solidFill>
                <a:latin typeface="맑은 고딕"/>
              </a:rPr>
              <a:t>GPU 클러스터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37176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04952"/>
                </a:solidFill>
                <a:latin typeface="맑은 고딕"/>
              </a:rPr>
              <a:t>2026.04 자체 구축  →  온프레미스 추론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276088"/>
            <a:ext cx="320040" cy="32004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84648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3C69"/>
                </a:solidFill>
                <a:latin typeface="맑은 고딕"/>
              </a:rPr>
              <a:t>STT/AICC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50408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04952"/>
                </a:solidFill>
                <a:latin typeface="맑은 고딕"/>
              </a:rPr>
              <a:t>영업점 태블릿 보유  →  시나리오 즉시 가동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3C69"/>
                </a:solidFill>
                <a:latin typeface="맑은 고딕"/>
              </a:rPr>
              <a:t>P0~P3 누적 270억 비용 분담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6888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우리은행 자체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46888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0067AC"/>
                </a:solidFill>
                <a:latin typeface="맑은 고딕"/>
              </a:rPr>
              <a:t>40% · 108억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80360"/>
            <a:ext cx="45720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880360"/>
            <a:ext cx="3657600" cy="228600"/>
          </a:xfrm>
          <a:prstGeom prst="rect">
            <a:avLst/>
          </a:prstGeom>
          <a:solidFill>
            <a:srgbClr val="00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375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금융위 디지털금융 R&amp;D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33756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003C69"/>
                </a:solidFill>
                <a:latin typeface="맑은 고딕"/>
              </a:rPr>
              <a:t>30% · 81억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49040"/>
            <a:ext cx="45720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749040"/>
            <a:ext cx="2743200" cy="2286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20624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과기정통부 표준화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20624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C8232B"/>
                </a:solidFill>
                <a:latin typeface="맑은 고딕"/>
              </a:rPr>
              <a:t>15% · 40.5억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617720"/>
            <a:ext cx="45720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617720"/>
            <a:ext cx="1371600" cy="228600"/>
          </a:xfrm>
          <a:prstGeom prst="rect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074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B1F24"/>
                </a:solidFill>
                <a:latin typeface="맑은 고딕"/>
              </a:rPr>
              <a:t>KAIST·LF·SSAFY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5074920"/>
            <a:ext cx="1645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404952"/>
                </a:solidFill>
                <a:latin typeface="맑은 고딕"/>
              </a:rPr>
              <a:t>15% · 40.5억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486400"/>
            <a:ext cx="45720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486400"/>
            <a:ext cx="1371600" cy="228600"/>
          </a:xfrm>
          <a:prstGeom prst="rect">
            <a:avLst/>
          </a:prstGeom>
          <a:solidFill>
            <a:srgbClr val="40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4952"/>
                </a:solidFill>
                <a:latin typeface="맑은 고딕"/>
              </a:rPr>
              <a:t>P4·P5 (200억) 은 라이센스 수익 선납으로 자력 가능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11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003C69"/>
                </a:solidFill>
                <a:latin typeface="맑은 고딕"/>
              </a:rPr>
              <a:t>3축 수익 모델 · P1 6개월 종료 시 Break-even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67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067AC"/>
                </a:solidFill>
                <a:latin typeface="맑은 고딕"/>
              </a:rPr>
              <a:t>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3108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03C69"/>
                </a:solidFill>
                <a:latin typeface="맑은 고딕"/>
              </a:rPr>
              <a:t>회피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3108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04952"/>
                </a:solidFill>
                <a:latin typeface="맑은 고딕"/>
              </a:rPr>
              <a:t>DLF·홍콩 ELS 급
사태 1건 회피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067AC"/>
                </a:solidFill>
                <a:latin typeface="맑은 고딕"/>
              </a:rPr>
              <a:t>197억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3108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</a:rPr>
              <a:t>1회만으로 P1 비용 회수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2024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0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914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03C69"/>
                </a:solidFill>
                <a:latin typeface="맑은 고딕"/>
              </a:rPr>
              <a:t>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108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03C69"/>
                </a:solidFill>
                <a:latin typeface="맑은 고딕"/>
              </a:rPr>
              <a:t>감경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3108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04952"/>
                </a:solidFill>
                <a:latin typeface="맑은 고딕"/>
              </a:rPr>
              <a:t>금소법 과징금
최대 75% 감경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5196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003C69"/>
                </a:solidFill>
                <a:latin typeface="맑은 고딕"/>
              </a:rPr>
              <a:t>37.5억/건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029200"/>
            <a:ext cx="3108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</a:rPr>
              <a:t>실태평가 우수 = Advocate 도입 근거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20240"/>
            <a:ext cx="36576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C8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9144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C8232B"/>
                </a:solidFill>
                <a:latin typeface="맑은 고딕"/>
              </a:rPr>
              <a:t>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1089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03C69"/>
                </a:solidFill>
                <a:latin typeface="맑은 고딕"/>
              </a:rPr>
              <a:t>라이센스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91840"/>
            <a:ext cx="3108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04952"/>
                </a:solidFill>
                <a:latin typeface="맑은 고딕"/>
              </a:rPr>
              <a:t>Phase 5 글로벌
5개국 53개 은행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5196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C8232B"/>
                </a:solidFill>
                <a:latin typeface="맑은 고딕"/>
              </a:rPr>
              <a:t>1,000~3,000억/년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029200"/>
            <a:ext cx="3108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B1F24"/>
                </a:solidFill>
                <a:latin typeface="맑은 고딕"/>
              </a:rPr>
              <a:t>$1M/은행 + customer fee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누적 470억 ↔ Phase 5 라이센스 1.6년치로 회수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12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패러다임 시프트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3C69"/>
                </a:solidFill>
                <a:latin typeface="맑은 고딕"/>
              </a:rPr>
              <a:t>신기능이 아니라 역전입니다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4952"/>
                </a:solidFill>
                <a:latin typeface="맑은 고딕"/>
              </a:rPr>
              <a:t>시점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2057400"/>
            <a:ext cx="3383280" cy="914400"/>
          </a:xfrm>
          <a:prstGeom prst="rect">
            <a:avLst/>
          </a:prstGeom>
          <a:solidFill>
            <a:srgbClr val="F5F7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224028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404952"/>
                </a:solidFill>
                <a:latin typeface="맑은 고딕"/>
              </a:rPr>
              <a:t>사후 모니터링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212080" y="2286000"/>
            <a:ext cx="1280160" cy="548640"/>
          </a:xfrm>
          <a:prstGeom prst="rightArrow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2057400"/>
            <a:ext cx="5029200" cy="9144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240280"/>
            <a:ext cx="4663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사전 개입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1752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해피콜·녹취 분석 → 가입 직전 차단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097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4952"/>
                </a:solidFill>
                <a:latin typeface="맑은 고딕"/>
              </a:rPr>
              <a:t>출력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383280"/>
            <a:ext cx="3383280" cy="914400"/>
          </a:xfrm>
          <a:prstGeom prst="rect">
            <a:avLst/>
          </a:prstGeom>
          <a:solidFill>
            <a:srgbClr val="F5F7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56616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404952"/>
                </a:solidFill>
                <a:latin typeface="맑은 고딕"/>
              </a:rPr>
              <a:t>단일 추천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12080" y="3611880"/>
            <a:ext cx="1280160" cy="548640"/>
          </a:xfrm>
          <a:prstGeom prst="rightArrow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383280"/>
            <a:ext cx="5029200" cy="9144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566160"/>
            <a:ext cx="4663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이중 관점 동시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4340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Seller view + Advocate view 좌우 분할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097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04952"/>
                </a:solidFill>
                <a:latin typeface="맑은 고딕"/>
              </a:rPr>
              <a:t>관점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4709160"/>
            <a:ext cx="3383280" cy="914400"/>
          </a:xfrm>
          <a:prstGeom prst="rect">
            <a:avLst/>
          </a:prstGeom>
          <a:solidFill>
            <a:srgbClr val="F5F7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489204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404952"/>
                </a:solidFill>
                <a:latin typeface="맑은 고딕"/>
              </a:rPr>
              <a:t>은행 편 AI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12080" y="4937760"/>
            <a:ext cx="1280160" cy="548640"/>
          </a:xfrm>
          <a:prstGeom prst="rightArrow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709160"/>
            <a:ext cx="5029200" cy="9144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40"/>
            <a:ext cx="4663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고객 편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6692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404952"/>
                </a:solidFill>
                <a:latin typeface="맑은 고딕"/>
              </a:rPr>
              <a:t>셀링 보조 → 고객 변호인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3C69"/>
                </a:solidFill>
                <a:latin typeface="맑은 고딕"/>
              </a:rPr>
              <a:t>"고객 편 AI" 라는 포지셔닝은 한 회사만 차지 — 우리은행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13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67AC"/>
                </a:solidFill>
                <a:latin typeface="맑은 고딕"/>
              </a:rPr>
              <a:t>Phase 4 ~ 5 · 글로벌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3C69"/>
                </a:solidFill>
                <a:latin typeface="맑은 고딕"/>
              </a:rPr>
              <a:t>OCP Standard — 한국이 글로벌 reference 국가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1828800" cy="9144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3M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1920240"/>
            <a:ext cx="1828800" cy="9144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331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26974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6M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1920240"/>
            <a:ext cx="1828800" cy="9144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2331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확장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6974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12M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920240"/>
            <a:ext cx="1828800" cy="914400"/>
          </a:xfrm>
          <a:prstGeom prst="rect">
            <a:avLst/>
          </a:prstGeom>
          <a:solidFill>
            <a:srgbClr val="00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331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전사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6974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12M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920240"/>
            <a:ext cx="1828800" cy="914400"/>
          </a:xfrm>
          <a:prstGeom prst="rect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8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331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OCP 표준화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26974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24M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920240"/>
            <a:ext cx="1828800" cy="914400"/>
          </a:xfrm>
          <a:prstGeom prst="rect">
            <a:avLst/>
          </a:prstGeom>
          <a:solidFill>
            <a:srgbClr val="C8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965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31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글로벌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6974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CADCFC"/>
                </a:solidFill>
                <a:latin typeface="맑은 고딕"/>
              </a:rPr>
              <a:t>24M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C8232B"/>
                </a:solidFill>
                <a:latin typeface="맑은 고딕"/>
              </a:rPr>
              <a:t>OCP — Open Consumer Protection 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404952"/>
                </a:solidFill>
                <a:latin typeface="맑은 고딕"/>
              </a:rPr>
              <a:t>Linux Foundation 위탁 · 우리은행 최초 reference impl · 컨소시엄 의장사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389120"/>
            <a:ext cx="2212848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22128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3C69"/>
                </a:solidFill>
                <a:latin typeface="맑은 고딕"/>
              </a:rPr>
              <a:t>🇸🇬 싱가포르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74920"/>
            <a:ext cx="221284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404952"/>
                </a:solidFill>
                <a:latin typeface="맑은 고딕"/>
              </a:rPr>
              <a:t>MAS FEAT Principles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15768" y="4389120"/>
            <a:ext cx="2212848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15768" y="4526280"/>
            <a:ext cx="22128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3C69"/>
                </a:solidFill>
                <a:latin typeface="맑은 고딕"/>
              </a:rPr>
              <a:t>🇭🇰 홍콩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5768" y="5074920"/>
            <a:ext cx="221284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404952"/>
                </a:solidFill>
                <a:latin typeface="맑은 고딕"/>
              </a:rPr>
              <a:t>SFC Suitability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74336" y="4389120"/>
            <a:ext cx="2212848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74336" y="4526280"/>
            <a:ext cx="22128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3C69"/>
                </a:solidFill>
                <a:latin typeface="맑은 고딕"/>
              </a:rPr>
              <a:t>🇯🇵 일본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5074920"/>
            <a:ext cx="221284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404952"/>
                </a:solidFill>
                <a:latin typeface="맑은 고딕"/>
              </a:rPr>
              <a:t>금융청 · 시니어 보호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32904" y="4389120"/>
            <a:ext cx="2212848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4526280"/>
            <a:ext cx="22128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3C69"/>
                </a:solidFill>
                <a:latin typeface="맑은 고딕"/>
              </a:rPr>
              <a:t>🇪🇺 EU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5074920"/>
            <a:ext cx="221284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404952"/>
                </a:solidFill>
                <a:latin typeface="맑은 고딕"/>
              </a:rPr>
              <a:t>AI Act 첫 인증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91472" y="4389120"/>
            <a:ext cx="2212848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1472" y="4526280"/>
            <a:ext cx="22128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3C69"/>
                </a:solidFill>
                <a:latin typeface="맑은 고딕"/>
              </a:rPr>
              <a:t>🇺🇸 미국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5074920"/>
            <a:ext cx="221284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404952"/>
                </a:solidFill>
                <a:latin typeface="맑은 고딕"/>
              </a:rPr>
              <a:t>SEC Reg BI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3C69"/>
                </a:solidFill>
                <a:latin typeface="맑은 고딕"/>
              </a:rPr>
              <a:t>ESG · S(취약계층 보호) + G(금소위 신설·표준 제정) → 우리은행 ESG 1등 추진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404952"/>
                </a:solidFill>
                <a:latin typeface="맑은 고딕"/>
              </a:rPr>
              <a:t>Woori Advocate · 우리은행 × SSAFY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04952"/>
                </a:solidFill>
                <a:latin typeface="맑은 고딕"/>
              </a:rPr>
              <a:t>14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맑은 고딕"/>
              </a:rPr>
              <a:t>결언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DLF 197억의 회사가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한국 금융권 소비자보호 표준의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5400" b="1">
                <a:solidFill>
                  <a:srgbClr val="C8232B"/>
                </a:solidFill>
                <a:latin typeface="맑은 고딕"/>
              </a:rPr>
              <a:t>출처가 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00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CADCFC"/>
                </a:solidFill>
                <a:latin typeface="맑은 고딕"/>
              </a:rPr>
              <a:t>고객의 편에서 질문을 던지는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우리은행의 Woori Advocate 였습니다.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CADCFC"/>
                </a:solidFill>
                <a:latin typeface="맑은 고딕"/>
              </a:rPr>
              <a:t>Q&amp;A — 들어주셔서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